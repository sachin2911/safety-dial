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3ca1b7903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3ca1b7903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3ca1b79032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3ca1b79032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3ca1b79032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3ca1b79032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3ca1b79032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3ca1b79032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3ca1b79032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3ca1b79032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3ca1b79032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3ca1b79032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3ca1b79032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3ca1b79032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3ca1b79032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3ca1b79032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3ca1b79032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3ca1b79032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3fb2c8a9f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3fb2c8a9f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3fb2c8a9fb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3fb2c8a9fb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3ca1b79032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3ca1b79032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3fb2c8a9f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3fb2c8a9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3fb2c8a9f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3fb2c8a9f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Annotated Bibliography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/>
          <p:nvPr/>
        </p:nvSpPr>
        <p:spPr>
          <a:xfrm rot="-5400000">
            <a:off x="4223875" y="-4108050"/>
            <a:ext cx="695400" cy="91581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4"/>
          <p:cNvSpPr/>
          <p:nvPr/>
        </p:nvSpPr>
        <p:spPr>
          <a:xfrm>
            <a:off x="171950" y="-62450"/>
            <a:ext cx="829800" cy="5268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/>
          <p:nvPr/>
        </p:nvSpPr>
        <p:spPr>
          <a:xfrm>
            <a:off x="239225" y="-62450"/>
            <a:ext cx="695400" cy="5268300"/>
          </a:xfrm>
          <a:prstGeom prst="rect">
            <a:avLst/>
          </a:prstGeom>
          <a:gradFill>
            <a:gsLst>
              <a:gs pos="0">
                <a:srgbClr val="DFEAFB"/>
              </a:gs>
              <a:gs pos="100000">
                <a:srgbClr val="6E9CE7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type="title"/>
          </p:nvPr>
        </p:nvSpPr>
        <p:spPr>
          <a:xfrm>
            <a:off x="1105875" y="184650"/>
            <a:ext cx="723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Introduction</a:t>
            </a:r>
            <a:endParaRPr b="1"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7050" y="971100"/>
            <a:ext cx="4832440" cy="402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/>
          <p:nvPr/>
        </p:nvSpPr>
        <p:spPr>
          <a:xfrm rot="-5400000">
            <a:off x="4223875" y="-4108050"/>
            <a:ext cx="695400" cy="91581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/>
          <p:nvPr/>
        </p:nvSpPr>
        <p:spPr>
          <a:xfrm>
            <a:off x="171950" y="-62450"/>
            <a:ext cx="829800" cy="5268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/>
          <p:nvPr/>
        </p:nvSpPr>
        <p:spPr>
          <a:xfrm>
            <a:off x="239225" y="-62450"/>
            <a:ext cx="695400" cy="5268300"/>
          </a:xfrm>
          <a:prstGeom prst="rect">
            <a:avLst/>
          </a:prstGeom>
          <a:gradFill>
            <a:gsLst>
              <a:gs pos="0">
                <a:srgbClr val="DFEAFB"/>
              </a:gs>
              <a:gs pos="100000">
                <a:srgbClr val="6E9CE7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>
            <p:ph type="title"/>
          </p:nvPr>
        </p:nvSpPr>
        <p:spPr>
          <a:xfrm>
            <a:off x="1105875" y="184650"/>
            <a:ext cx="723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Introduction</a:t>
            </a:r>
            <a:endParaRPr b="1"/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1650" y="1600300"/>
            <a:ext cx="5850474" cy="218502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1460600" y="1091525"/>
            <a:ext cx="452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>
                <a:solidFill>
                  <a:schemeClr val="dk2"/>
                </a:solidFill>
              </a:rPr>
              <a:t>https://scholar.google.com/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/>
          <p:nvPr/>
        </p:nvSpPr>
        <p:spPr>
          <a:xfrm rot="-5400000">
            <a:off x="4223875" y="-4108050"/>
            <a:ext cx="695400" cy="91581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/>
          <p:nvPr/>
        </p:nvSpPr>
        <p:spPr>
          <a:xfrm>
            <a:off x="171950" y="-62450"/>
            <a:ext cx="829800" cy="5268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6"/>
          <p:cNvSpPr/>
          <p:nvPr/>
        </p:nvSpPr>
        <p:spPr>
          <a:xfrm>
            <a:off x="239225" y="-62450"/>
            <a:ext cx="695400" cy="5268300"/>
          </a:xfrm>
          <a:prstGeom prst="rect">
            <a:avLst/>
          </a:prstGeom>
          <a:gradFill>
            <a:gsLst>
              <a:gs pos="0">
                <a:srgbClr val="DFEAFB"/>
              </a:gs>
              <a:gs pos="100000">
                <a:srgbClr val="6E9CE7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6"/>
          <p:cNvSpPr txBox="1"/>
          <p:nvPr>
            <p:ph type="title"/>
          </p:nvPr>
        </p:nvSpPr>
        <p:spPr>
          <a:xfrm>
            <a:off x="1105875" y="184650"/>
            <a:ext cx="723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Introduction</a:t>
            </a:r>
            <a:endParaRPr b="1"/>
          </a:p>
        </p:txBody>
      </p:sp>
      <p:sp>
        <p:nvSpPr>
          <p:cNvPr id="82" name="Google Shape;82;p16"/>
          <p:cNvSpPr txBox="1"/>
          <p:nvPr/>
        </p:nvSpPr>
        <p:spPr>
          <a:xfrm>
            <a:off x="1460600" y="1091525"/>
            <a:ext cx="6880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>
                <a:solidFill>
                  <a:schemeClr val="dk2"/>
                </a:solidFill>
              </a:rPr>
              <a:t>You want to be looking for </a:t>
            </a:r>
            <a:r>
              <a:rPr lang="en-GB" sz="1800">
                <a:solidFill>
                  <a:schemeClr val="dk2"/>
                </a:solidFill>
              </a:rPr>
              <a:t>highly</a:t>
            </a:r>
            <a:r>
              <a:rPr lang="en-GB" sz="1800">
                <a:solidFill>
                  <a:schemeClr val="dk2"/>
                </a:solidFill>
              </a:rPr>
              <a:t> cited works from accredited venues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0775" y="1927875"/>
            <a:ext cx="3683029" cy="3008276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/>
          <p:nvPr/>
        </p:nvSpPr>
        <p:spPr>
          <a:xfrm>
            <a:off x="4028425" y="2457875"/>
            <a:ext cx="543600" cy="1647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6"/>
          <p:cNvSpPr/>
          <p:nvPr/>
        </p:nvSpPr>
        <p:spPr>
          <a:xfrm>
            <a:off x="4028425" y="3207075"/>
            <a:ext cx="543600" cy="1647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6"/>
          <p:cNvSpPr/>
          <p:nvPr/>
        </p:nvSpPr>
        <p:spPr>
          <a:xfrm>
            <a:off x="4028425" y="3956275"/>
            <a:ext cx="543600" cy="1647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/>
          <p:nvPr/>
        </p:nvSpPr>
        <p:spPr>
          <a:xfrm>
            <a:off x="4028425" y="4705475"/>
            <a:ext cx="543600" cy="1647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/>
          <p:nvPr/>
        </p:nvSpPr>
        <p:spPr>
          <a:xfrm rot="-5400000">
            <a:off x="4223875" y="-4108050"/>
            <a:ext cx="695400" cy="91581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7"/>
          <p:cNvSpPr/>
          <p:nvPr/>
        </p:nvSpPr>
        <p:spPr>
          <a:xfrm>
            <a:off x="171950" y="-62450"/>
            <a:ext cx="829800" cy="5268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7"/>
          <p:cNvSpPr/>
          <p:nvPr/>
        </p:nvSpPr>
        <p:spPr>
          <a:xfrm>
            <a:off x="239225" y="-62450"/>
            <a:ext cx="695400" cy="5268300"/>
          </a:xfrm>
          <a:prstGeom prst="rect">
            <a:avLst/>
          </a:prstGeom>
          <a:gradFill>
            <a:gsLst>
              <a:gs pos="0">
                <a:srgbClr val="DFEAFB"/>
              </a:gs>
              <a:gs pos="100000">
                <a:srgbClr val="6E9CE7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7"/>
          <p:cNvSpPr txBox="1"/>
          <p:nvPr>
            <p:ph type="title"/>
          </p:nvPr>
        </p:nvSpPr>
        <p:spPr>
          <a:xfrm>
            <a:off x="1105875" y="184650"/>
            <a:ext cx="723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Introduction</a:t>
            </a:r>
            <a:endParaRPr b="1"/>
          </a:p>
        </p:txBody>
      </p:sp>
      <p:sp>
        <p:nvSpPr>
          <p:cNvPr id="96" name="Google Shape;96;p17"/>
          <p:cNvSpPr txBox="1"/>
          <p:nvPr/>
        </p:nvSpPr>
        <p:spPr>
          <a:xfrm>
            <a:off x="1460600" y="1091525"/>
            <a:ext cx="688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>
                <a:solidFill>
                  <a:schemeClr val="dk2"/>
                </a:solidFill>
              </a:rPr>
              <a:t>Get the latex reference directly from the paper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1850" y="1785625"/>
            <a:ext cx="3078475" cy="25144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/>
          <p:nvPr/>
        </p:nvSpPr>
        <p:spPr>
          <a:xfrm>
            <a:off x="1751150" y="2224025"/>
            <a:ext cx="321900" cy="1647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9" name="Google Shape;9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02247" y="1887400"/>
            <a:ext cx="2138651" cy="195395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7"/>
          <p:cNvSpPr/>
          <p:nvPr/>
        </p:nvSpPr>
        <p:spPr>
          <a:xfrm>
            <a:off x="4023775" y="3625000"/>
            <a:ext cx="263700" cy="1647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1" name="Google Shape;101;p17"/>
          <p:cNvCxnSpPr>
            <a:endCxn id="98" idx="0"/>
          </p:cNvCxnSpPr>
          <p:nvPr/>
        </p:nvCxnSpPr>
        <p:spPr>
          <a:xfrm flipH="1">
            <a:off x="1912100" y="1586225"/>
            <a:ext cx="781500" cy="637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2" name="Google Shape;102;p17"/>
          <p:cNvCxnSpPr>
            <a:stCxn id="98" idx="2"/>
            <a:endCxn id="100" idx="1"/>
          </p:cNvCxnSpPr>
          <p:nvPr/>
        </p:nvCxnSpPr>
        <p:spPr>
          <a:xfrm>
            <a:off x="1912100" y="2388725"/>
            <a:ext cx="2111700" cy="1318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103" name="Google Shape;103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91600" y="2337488"/>
            <a:ext cx="2796124" cy="1053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4" name="Google Shape;104;p17"/>
          <p:cNvCxnSpPr>
            <a:stCxn id="100" idx="3"/>
            <a:endCxn id="103" idx="1"/>
          </p:cNvCxnSpPr>
          <p:nvPr/>
        </p:nvCxnSpPr>
        <p:spPr>
          <a:xfrm flipH="1" rot="10800000">
            <a:off x="4287475" y="2864350"/>
            <a:ext cx="1704000" cy="843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/>
          <p:nvPr/>
        </p:nvSpPr>
        <p:spPr>
          <a:xfrm rot="-5400000">
            <a:off x="4223875" y="-4108050"/>
            <a:ext cx="695400" cy="91581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8"/>
          <p:cNvSpPr/>
          <p:nvPr/>
        </p:nvSpPr>
        <p:spPr>
          <a:xfrm>
            <a:off x="171950" y="-62450"/>
            <a:ext cx="829800" cy="5268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8"/>
          <p:cNvSpPr/>
          <p:nvPr/>
        </p:nvSpPr>
        <p:spPr>
          <a:xfrm>
            <a:off x="239225" y="-62450"/>
            <a:ext cx="695400" cy="5268300"/>
          </a:xfrm>
          <a:prstGeom prst="rect">
            <a:avLst/>
          </a:prstGeom>
          <a:gradFill>
            <a:gsLst>
              <a:gs pos="0">
                <a:srgbClr val="DFEAFB"/>
              </a:gs>
              <a:gs pos="100000">
                <a:srgbClr val="6E9CE7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8"/>
          <p:cNvSpPr txBox="1"/>
          <p:nvPr>
            <p:ph type="title"/>
          </p:nvPr>
        </p:nvSpPr>
        <p:spPr>
          <a:xfrm>
            <a:off x="1105875" y="184650"/>
            <a:ext cx="723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Aim</a:t>
            </a:r>
            <a:endParaRPr b="1"/>
          </a:p>
        </p:txBody>
      </p:sp>
      <p:sp>
        <p:nvSpPr>
          <p:cNvPr id="113" name="Google Shape;113;p18"/>
          <p:cNvSpPr txBox="1"/>
          <p:nvPr/>
        </p:nvSpPr>
        <p:spPr>
          <a:xfrm>
            <a:off x="1468450" y="1295700"/>
            <a:ext cx="50415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Represents the overall objective of the paper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Needs to cover all the bases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>
                <a:solidFill>
                  <a:schemeClr val="dk2"/>
                </a:solidFill>
              </a:rPr>
              <a:t>Problem</a:t>
            </a:r>
            <a:endParaRPr sz="1800">
              <a:solidFill>
                <a:schemeClr val="dk2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>
                <a:solidFill>
                  <a:schemeClr val="dk2"/>
                </a:solidFill>
              </a:rPr>
              <a:t>Domain </a:t>
            </a:r>
            <a:endParaRPr sz="1800">
              <a:solidFill>
                <a:schemeClr val="dk2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>
                <a:solidFill>
                  <a:schemeClr val="dk2"/>
                </a:solidFill>
              </a:rPr>
              <a:t>Approach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/>
          <p:nvPr/>
        </p:nvSpPr>
        <p:spPr>
          <a:xfrm rot="-5400000">
            <a:off x="4223875" y="-4108050"/>
            <a:ext cx="695400" cy="91581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9"/>
          <p:cNvSpPr/>
          <p:nvPr/>
        </p:nvSpPr>
        <p:spPr>
          <a:xfrm>
            <a:off x="171950" y="-62450"/>
            <a:ext cx="829800" cy="5268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9"/>
          <p:cNvSpPr/>
          <p:nvPr/>
        </p:nvSpPr>
        <p:spPr>
          <a:xfrm>
            <a:off x="239225" y="-62450"/>
            <a:ext cx="695400" cy="5268300"/>
          </a:xfrm>
          <a:prstGeom prst="rect">
            <a:avLst/>
          </a:prstGeom>
          <a:gradFill>
            <a:gsLst>
              <a:gs pos="0">
                <a:srgbClr val="DFEAFB"/>
              </a:gs>
              <a:gs pos="100000">
                <a:srgbClr val="6E9CE7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9"/>
          <p:cNvSpPr txBox="1"/>
          <p:nvPr>
            <p:ph type="title"/>
          </p:nvPr>
        </p:nvSpPr>
        <p:spPr>
          <a:xfrm>
            <a:off x="1105875" y="184650"/>
            <a:ext cx="723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Aim</a:t>
            </a:r>
            <a:endParaRPr b="1"/>
          </a:p>
        </p:txBody>
      </p:sp>
      <p:sp>
        <p:nvSpPr>
          <p:cNvPr id="122" name="Google Shape;122;p19"/>
          <p:cNvSpPr txBox="1"/>
          <p:nvPr/>
        </p:nvSpPr>
        <p:spPr>
          <a:xfrm>
            <a:off x="1468450" y="1295700"/>
            <a:ext cx="486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Represents the overall objective of the paper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23" name="Google Shape;12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8556" y="1966599"/>
            <a:ext cx="7852992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29163" y="2712600"/>
            <a:ext cx="7059526" cy="75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65313" y="3687200"/>
            <a:ext cx="6987249" cy="41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/>
          <p:nvPr/>
        </p:nvSpPr>
        <p:spPr>
          <a:xfrm rot="-5400000">
            <a:off x="4223875" y="-4108050"/>
            <a:ext cx="695400" cy="91581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0"/>
          <p:cNvSpPr/>
          <p:nvPr/>
        </p:nvSpPr>
        <p:spPr>
          <a:xfrm>
            <a:off x="171950" y="-62450"/>
            <a:ext cx="829800" cy="5268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0"/>
          <p:cNvSpPr/>
          <p:nvPr/>
        </p:nvSpPr>
        <p:spPr>
          <a:xfrm>
            <a:off x="239225" y="-62450"/>
            <a:ext cx="695400" cy="5268300"/>
          </a:xfrm>
          <a:prstGeom prst="rect">
            <a:avLst/>
          </a:prstGeom>
          <a:gradFill>
            <a:gsLst>
              <a:gs pos="0">
                <a:srgbClr val="DFEAFB"/>
              </a:gs>
              <a:gs pos="100000">
                <a:srgbClr val="6E9CE7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0"/>
          <p:cNvSpPr txBox="1"/>
          <p:nvPr>
            <p:ph type="title"/>
          </p:nvPr>
        </p:nvSpPr>
        <p:spPr>
          <a:xfrm>
            <a:off x="1105875" y="184650"/>
            <a:ext cx="723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Aim</a:t>
            </a:r>
            <a:endParaRPr b="1"/>
          </a:p>
        </p:txBody>
      </p:sp>
      <p:sp>
        <p:nvSpPr>
          <p:cNvPr id="134" name="Google Shape;134;p20"/>
          <p:cNvSpPr txBox="1"/>
          <p:nvPr/>
        </p:nvSpPr>
        <p:spPr>
          <a:xfrm>
            <a:off x="1468450" y="1295700"/>
            <a:ext cx="537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Represents the overall objective of the paper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35" name="Google Shape;13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8556" y="1966599"/>
            <a:ext cx="7852992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29163" y="2712600"/>
            <a:ext cx="7059526" cy="750350"/>
          </a:xfrm>
          <a:prstGeom prst="rect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7" name="Google Shape;13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65313" y="3687200"/>
            <a:ext cx="6987249" cy="41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/>
          <p:nvPr/>
        </p:nvSpPr>
        <p:spPr>
          <a:xfrm rot="-5400000">
            <a:off x="4223875" y="-4108050"/>
            <a:ext cx="695400" cy="91581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1"/>
          <p:cNvSpPr/>
          <p:nvPr/>
        </p:nvSpPr>
        <p:spPr>
          <a:xfrm>
            <a:off x="171950" y="-62450"/>
            <a:ext cx="829800" cy="5268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1"/>
          <p:cNvSpPr/>
          <p:nvPr/>
        </p:nvSpPr>
        <p:spPr>
          <a:xfrm>
            <a:off x="239225" y="-62450"/>
            <a:ext cx="695400" cy="5268300"/>
          </a:xfrm>
          <a:prstGeom prst="rect">
            <a:avLst/>
          </a:prstGeom>
          <a:gradFill>
            <a:gsLst>
              <a:gs pos="0">
                <a:srgbClr val="DFEAFB"/>
              </a:gs>
              <a:gs pos="100000">
                <a:srgbClr val="6E9CE7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1"/>
          <p:cNvSpPr txBox="1"/>
          <p:nvPr>
            <p:ph type="title"/>
          </p:nvPr>
        </p:nvSpPr>
        <p:spPr>
          <a:xfrm>
            <a:off x="1105875" y="184650"/>
            <a:ext cx="723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Style</a:t>
            </a:r>
            <a:endParaRPr b="1"/>
          </a:p>
        </p:txBody>
      </p:sp>
      <p:sp>
        <p:nvSpPr>
          <p:cNvPr id="146" name="Google Shape;146;p21"/>
          <p:cNvSpPr txBox="1"/>
          <p:nvPr/>
        </p:nvSpPr>
        <p:spPr>
          <a:xfrm>
            <a:off x="1468450" y="1295700"/>
            <a:ext cx="50415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Represents the type of publication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Conference / Journal / Book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Experimental / Theoretical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Let the Bib entry guide you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47" name="Google Shape;14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9925" y="3434349"/>
            <a:ext cx="7882925" cy="1375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8" name="Google Shape;148;p21"/>
          <p:cNvCxnSpPr/>
          <p:nvPr/>
        </p:nvCxnSpPr>
        <p:spPr>
          <a:xfrm flipH="1">
            <a:off x="2065300" y="3133225"/>
            <a:ext cx="1036500" cy="28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/>
          <p:cNvSpPr/>
          <p:nvPr/>
        </p:nvSpPr>
        <p:spPr>
          <a:xfrm rot="-5400000">
            <a:off x="4223875" y="-4108050"/>
            <a:ext cx="695400" cy="91581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2"/>
          <p:cNvSpPr/>
          <p:nvPr/>
        </p:nvSpPr>
        <p:spPr>
          <a:xfrm>
            <a:off x="171950" y="-62450"/>
            <a:ext cx="829800" cy="5268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2"/>
          <p:cNvSpPr/>
          <p:nvPr/>
        </p:nvSpPr>
        <p:spPr>
          <a:xfrm>
            <a:off x="239225" y="-62450"/>
            <a:ext cx="695400" cy="5268300"/>
          </a:xfrm>
          <a:prstGeom prst="rect">
            <a:avLst/>
          </a:prstGeom>
          <a:gradFill>
            <a:gsLst>
              <a:gs pos="0">
                <a:srgbClr val="DFEAFB"/>
              </a:gs>
              <a:gs pos="100000">
                <a:srgbClr val="6E9CE7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2"/>
          <p:cNvSpPr txBox="1"/>
          <p:nvPr>
            <p:ph type="title"/>
          </p:nvPr>
        </p:nvSpPr>
        <p:spPr>
          <a:xfrm>
            <a:off x="1105875" y="184650"/>
            <a:ext cx="723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Cross Reference</a:t>
            </a:r>
            <a:endParaRPr b="1"/>
          </a:p>
        </p:txBody>
      </p:sp>
      <p:sp>
        <p:nvSpPr>
          <p:cNvPr id="157" name="Google Shape;157;p22"/>
          <p:cNvSpPr txBox="1"/>
          <p:nvPr/>
        </p:nvSpPr>
        <p:spPr>
          <a:xfrm>
            <a:off x="1468450" y="1295700"/>
            <a:ext cx="5041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Compare and contrast with the other papers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Differences / similarities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Need to image map connecting all your papers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8" name="Google Shape;158;p22"/>
          <p:cNvSpPr/>
          <p:nvPr/>
        </p:nvSpPr>
        <p:spPr>
          <a:xfrm>
            <a:off x="3188175" y="2888888"/>
            <a:ext cx="400500" cy="40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2"/>
          <p:cNvSpPr/>
          <p:nvPr/>
        </p:nvSpPr>
        <p:spPr>
          <a:xfrm>
            <a:off x="3188175" y="3946950"/>
            <a:ext cx="400500" cy="40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2"/>
          <p:cNvSpPr/>
          <p:nvPr/>
        </p:nvSpPr>
        <p:spPr>
          <a:xfrm>
            <a:off x="4462075" y="4543200"/>
            <a:ext cx="400500" cy="40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2"/>
          <p:cNvSpPr/>
          <p:nvPr/>
        </p:nvSpPr>
        <p:spPr>
          <a:xfrm>
            <a:off x="4462075" y="2446125"/>
            <a:ext cx="400500" cy="40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2"/>
          <p:cNvSpPr/>
          <p:nvPr/>
        </p:nvSpPr>
        <p:spPr>
          <a:xfrm>
            <a:off x="5842225" y="2849850"/>
            <a:ext cx="400500" cy="40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2"/>
          <p:cNvSpPr/>
          <p:nvPr/>
        </p:nvSpPr>
        <p:spPr>
          <a:xfrm>
            <a:off x="5842225" y="3946950"/>
            <a:ext cx="400500" cy="40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4" name="Google Shape;164;p22"/>
          <p:cNvCxnSpPr>
            <a:stCxn id="158" idx="4"/>
            <a:endCxn id="159" idx="0"/>
          </p:cNvCxnSpPr>
          <p:nvPr/>
        </p:nvCxnSpPr>
        <p:spPr>
          <a:xfrm>
            <a:off x="3388425" y="3297188"/>
            <a:ext cx="0" cy="649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" name="Google Shape;165;p22"/>
          <p:cNvCxnSpPr>
            <a:stCxn id="158" idx="7"/>
            <a:endCxn id="161" idx="2"/>
          </p:cNvCxnSpPr>
          <p:nvPr/>
        </p:nvCxnSpPr>
        <p:spPr>
          <a:xfrm flipH="1" rot="10800000">
            <a:off x="3530023" y="2650182"/>
            <a:ext cx="932100" cy="298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" name="Google Shape;166;p22"/>
          <p:cNvCxnSpPr>
            <a:stCxn id="161" idx="4"/>
            <a:endCxn id="160" idx="0"/>
          </p:cNvCxnSpPr>
          <p:nvPr/>
        </p:nvCxnSpPr>
        <p:spPr>
          <a:xfrm>
            <a:off x="4662325" y="2854425"/>
            <a:ext cx="0" cy="1688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" name="Google Shape;167;p22"/>
          <p:cNvCxnSpPr>
            <a:stCxn id="159" idx="5"/>
            <a:endCxn id="160" idx="2"/>
          </p:cNvCxnSpPr>
          <p:nvPr/>
        </p:nvCxnSpPr>
        <p:spPr>
          <a:xfrm>
            <a:off x="3530023" y="4295456"/>
            <a:ext cx="932100" cy="451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" name="Google Shape;168;p22"/>
          <p:cNvCxnSpPr>
            <a:stCxn id="158" idx="5"/>
            <a:endCxn id="160" idx="1"/>
          </p:cNvCxnSpPr>
          <p:nvPr/>
        </p:nvCxnSpPr>
        <p:spPr>
          <a:xfrm>
            <a:off x="3530023" y="3237393"/>
            <a:ext cx="990600" cy="1365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22"/>
          <p:cNvCxnSpPr/>
          <p:nvPr/>
        </p:nvCxnSpPr>
        <p:spPr>
          <a:xfrm>
            <a:off x="7318700" y="2842675"/>
            <a:ext cx="1366500" cy="15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" name="Google Shape;170;p22"/>
          <p:cNvCxnSpPr>
            <a:stCxn id="161" idx="6"/>
            <a:endCxn id="162" idx="2"/>
          </p:cNvCxnSpPr>
          <p:nvPr/>
        </p:nvCxnSpPr>
        <p:spPr>
          <a:xfrm>
            <a:off x="4862575" y="2650275"/>
            <a:ext cx="979800" cy="403800"/>
          </a:xfrm>
          <a:prstGeom prst="straightConnector1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" name="Google Shape;171;p22"/>
          <p:cNvCxnSpPr>
            <a:stCxn id="161" idx="5"/>
            <a:endCxn id="163" idx="1"/>
          </p:cNvCxnSpPr>
          <p:nvPr/>
        </p:nvCxnSpPr>
        <p:spPr>
          <a:xfrm>
            <a:off x="4803923" y="2794631"/>
            <a:ext cx="1097100" cy="1212000"/>
          </a:xfrm>
          <a:prstGeom prst="straightConnector1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" name="Google Shape;172;p22"/>
          <p:cNvCxnSpPr>
            <a:stCxn id="163" idx="0"/>
            <a:endCxn id="162" idx="4"/>
          </p:cNvCxnSpPr>
          <p:nvPr/>
        </p:nvCxnSpPr>
        <p:spPr>
          <a:xfrm rot="10800000">
            <a:off x="6042475" y="3258150"/>
            <a:ext cx="0" cy="688800"/>
          </a:xfrm>
          <a:prstGeom prst="straightConnector1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" name="Google Shape;173;p22"/>
          <p:cNvCxnSpPr/>
          <p:nvPr/>
        </p:nvCxnSpPr>
        <p:spPr>
          <a:xfrm>
            <a:off x="7307000" y="3258150"/>
            <a:ext cx="1389900" cy="237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" name="Google Shape;174;p22"/>
          <p:cNvCxnSpPr>
            <a:stCxn id="158" idx="6"/>
            <a:endCxn id="163" idx="2"/>
          </p:cNvCxnSpPr>
          <p:nvPr/>
        </p:nvCxnSpPr>
        <p:spPr>
          <a:xfrm>
            <a:off x="3588675" y="3093038"/>
            <a:ext cx="2253600" cy="1058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" name="Google Shape;175;p22"/>
          <p:cNvCxnSpPr/>
          <p:nvPr/>
        </p:nvCxnSpPr>
        <p:spPr>
          <a:xfrm>
            <a:off x="7316525" y="3681725"/>
            <a:ext cx="1421400" cy="15600"/>
          </a:xfrm>
          <a:prstGeom prst="straightConnector1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" name="Google Shape;176;p22"/>
          <p:cNvCxnSpPr>
            <a:stCxn id="160" idx="7"/>
            <a:endCxn id="162" idx="3"/>
          </p:cNvCxnSpPr>
          <p:nvPr/>
        </p:nvCxnSpPr>
        <p:spPr>
          <a:xfrm flipH="1" rot="10800000">
            <a:off x="4803923" y="3198394"/>
            <a:ext cx="1097100" cy="1404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22"/>
          <p:cNvCxnSpPr>
            <a:stCxn id="160" idx="6"/>
            <a:endCxn id="163" idx="3"/>
          </p:cNvCxnSpPr>
          <p:nvPr/>
        </p:nvCxnSpPr>
        <p:spPr>
          <a:xfrm flipH="1" rot="10800000">
            <a:off x="4862575" y="4295550"/>
            <a:ext cx="1038300" cy="45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" name="Google Shape;178;p22"/>
          <p:cNvCxnSpPr>
            <a:stCxn id="162" idx="5"/>
            <a:endCxn id="163" idx="7"/>
          </p:cNvCxnSpPr>
          <p:nvPr/>
        </p:nvCxnSpPr>
        <p:spPr>
          <a:xfrm>
            <a:off x="6184073" y="3198356"/>
            <a:ext cx="0" cy="8085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" name="Google Shape;179;p22"/>
          <p:cNvCxnSpPr/>
          <p:nvPr/>
        </p:nvCxnSpPr>
        <p:spPr>
          <a:xfrm>
            <a:off x="7316525" y="4097200"/>
            <a:ext cx="1421400" cy="15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" name="Google Shape;180;p22"/>
          <p:cNvSpPr txBox="1"/>
          <p:nvPr/>
        </p:nvSpPr>
        <p:spPr>
          <a:xfrm>
            <a:off x="7245950" y="2458075"/>
            <a:ext cx="162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Domain/Dataset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81" name="Google Shape;181;p22"/>
          <p:cNvSpPr txBox="1"/>
          <p:nvPr/>
        </p:nvSpPr>
        <p:spPr>
          <a:xfrm>
            <a:off x="7245950" y="2881650"/>
            <a:ext cx="162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Limitations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82" name="Google Shape;182;p22"/>
          <p:cNvSpPr txBox="1"/>
          <p:nvPr/>
        </p:nvSpPr>
        <p:spPr>
          <a:xfrm>
            <a:off x="7245950" y="3277638"/>
            <a:ext cx="162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Model / Algorithm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83" name="Google Shape;183;p22"/>
          <p:cNvSpPr txBox="1"/>
          <p:nvPr/>
        </p:nvSpPr>
        <p:spPr>
          <a:xfrm>
            <a:off x="7245950" y="3701200"/>
            <a:ext cx="162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Problem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184" name="Google Shape;184;p22"/>
          <p:cNvCxnSpPr>
            <a:stCxn id="159" idx="7"/>
            <a:endCxn id="161" idx="3"/>
          </p:cNvCxnSpPr>
          <p:nvPr/>
        </p:nvCxnSpPr>
        <p:spPr>
          <a:xfrm flipH="1" rot="10800000">
            <a:off x="3530023" y="2794744"/>
            <a:ext cx="990600" cy="1212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3"/>
          <p:cNvSpPr/>
          <p:nvPr/>
        </p:nvSpPr>
        <p:spPr>
          <a:xfrm rot="-5400000">
            <a:off x="4223875" y="-4108050"/>
            <a:ext cx="695400" cy="91581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3"/>
          <p:cNvSpPr/>
          <p:nvPr/>
        </p:nvSpPr>
        <p:spPr>
          <a:xfrm>
            <a:off x="171950" y="-62450"/>
            <a:ext cx="829800" cy="5268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3"/>
          <p:cNvSpPr/>
          <p:nvPr/>
        </p:nvSpPr>
        <p:spPr>
          <a:xfrm>
            <a:off x="239225" y="-62450"/>
            <a:ext cx="695400" cy="5268300"/>
          </a:xfrm>
          <a:prstGeom prst="rect">
            <a:avLst/>
          </a:prstGeom>
          <a:gradFill>
            <a:gsLst>
              <a:gs pos="0">
                <a:srgbClr val="DFEAFB"/>
              </a:gs>
              <a:gs pos="100000">
                <a:srgbClr val="6E9CE7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3"/>
          <p:cNvSpPr txBox="1"/>
          <p:nvPr>
            <p:ph type="title"/>
          </p:nvPr>
        </p:nvSpPr>
        <p:spPr>
          <a:xfrm>
            <a:off x="1105875" y="184650"/>
            <a:ext cx="723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Cross Reference</a:t>
            </a:r>
            <a:endParaRPr b="1"/>
          </a:p>
        </p:txBody>
      </p:sp>
      <p:pic>
        <p:nvPicPr>
          <p:cNvPr id="193" name="Google Shape;19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2875" y="1246475"/>
            <a:ext cx="7754725" cy="144887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3"/>
          <p:cNvSpPr txBox="1"/>
          <p:nvPr/>
        </p:nvSpPr>
        <p:spPr>
          <a:xfrm>
            <a:off x="1515550" y="2921200"/>
            <a:ext cx="4523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6AA84F"/>
                </a:solidFill>
              </a:rPr>
              <a:t>Primary Paper</a:t>
            </a:r>
            <a:endParaRPr b="1" sz="18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E06666"/>
                </a:solidFill>
              </a:rPr>
              <a:t>Linked Papers</a:t>
            </a:r>
            <a:endParaRPr b="1" sz="1800">
              <a:solidFill>
                <a:srgbClr val="E0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E6AFE7"/>
                </a:solidFill>
              </a:rPr>
              <a:t>Comparative</a:t>
            </a:r>
            <a:r>
              <a:rPr b="1" lang="en-GB" sz="1800">
                <a:solidFill>
                  <a:srgbClr val="E6AFE7"/>
                </a:solidFill>
              </a:rPr>
              <a:t> Wording</a:t>
            </a:r>
            <a:endParaRPr b="1" sz="1800">
              <a:solidFill>
                <a:srgbClr val="E6AFE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1C232"/>
                </a:solidFill>
              </a:rPr>
              <a:t>Similarities / Differences</a:t>
            </a:r>
            <a:endParaRPr b="1" sz="1800">
              <a:solidFill>
                <a:srgbClr val="F1C23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4"/>
          <p:cNvSpPr/>
          <p:nvPr/>
        </p:nvSpPr>
        <p:spPr>
          <a:xfrm rot="-5400000">
            <a:off x="4223875" y="-4108050"/>
            <a:ext cx="695400" cy="91581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4"/>
          <p:cNvSpPr/>
          <p:nvPr/>
        </p:nvSpPr>
        <p:spPr>
          <a:xfrm>
            <a:off x="171950" y="-62450"/>
            <a:ext cx="829800" cy="5268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4"/>
          <p:cNvSpPr/>
          <p:nvPr/>
        </p:nvSpPr>
        <p:spPr>
          <a:xfrm>
            <a:off x="239225" y="-62450"/>
            <a:ext cx="695400" cy="5268300"/>
          </a:xfrm>
          <a:prstGeom prst="rect">
            <a:avLst/>
          </a:prstGeom>
          <a:gradFill>
            <a:gsLst>
              <a:gs pos="0">
                <a:srgbClr val="DFEAFB"/>
              </a:gs>
              <a:gs pos="100000">
                <a:srgbClr val="6E9CE7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4"/>
          <p:cNvSpPr txBox="1"/>
          <p:nvPr>
            <p:ph type="title"/>
          </p:nvPr>
        </p:nvSpPr>
        <p:spPr>
          <a:xfrm>
            <a:off x="1105875" y="184650"/>
            <a:ext cx="723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Cross Reference</a:t>
            </a:r>
            <a:endParaRPr b="1"/>
          </a:p>
        </p:txBody>
      </p:sp>
      <p:sp>
        <p:nvSpPr>
          <p:cNvPr id="203" name="Google Shape;203;p24"/>
          <p:cNvSpPr txBox="1"/>
          <p:nvPr/>
        </p:nvSpPr>
        <p:spPr>
          <a:xfrm>
            <a:off x="1515550" y="2921200"/>
            <a:ext cx="4523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6AA84F"/>
                </a:solidFill>
              </a:rPr>
              <a:t>Primary Paper</a:t>
            </a:r>
            <a:endParaRPr b="1" sz="18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E06666"/>
                </a:solidFill>
              </a:rPr>
              <a:t>Linked Papers</a:t>
            </a:r>
            <a:endParaRPr b="1" sz="1800">
              <a:solidFill>
                <a:srgbClr val="E0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E6AFE7"/>
                </a:solidFill>
              </a:rPr>
              <a:t>Comparative Wording</a:t>
            </a:r>
            <a:endParaRPr b="1" sz="1800">
              <a:solidFill>
                <a:srgbClr val="E6AFE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1C232"/>
                </a:solidFill>
              </a:rPr>
              <a:t>Similarities / Differences</a:t>
            </a:r>
            <a:endParaRPr b="1" sz="1800">
              <a:solidFill>
                <a:srgbClr val="F1C232"/>
              </a:solidFill>
            </a:endParaRPr>
          </a:p>
        </p:txBody>
      </p:sp>
      <p:pic>
        <p:nvPicPr>
          <p:cNvPr id="204" name="Google Shape;20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9750" y="1073175"/>
            <a:ext cx="6572840" cy="179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5"/>
          <p:cNvSpPr/>
          <p:nvPr/>
        </p:nvSpPr>
        <p:spPr>
          <a:xfrm rot="-5400000">
            <a:off x="4223875" y="-4108050"/>
            <a:ext cx="695400" cy="91581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5"/>
          <p:cNvSpPr/>
          <p:nvPr/>
        </p:nvSpPr>
        <p:spPr>
          <a:xfrm>
            <a:off x="171950" y="-62450"/>
            <a:ext cx="829800" cy="5268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5"/>
          <p:cNvSpPr/>
          <p:nvPr/>
        </p:nvSpPr>
        <p:spPr>
          <a:xfrm>
            <a:off x="239225" y="-62450"/>
            <a:ext cx="695400" cy="5268300"/>
          </a:xfrm>
          <a:prstGeom prst="rect">
            <a:avLst/>
          </a:prstGeom>
          <a:gradFill>
            <a:gsLst>
              <a:gs pos="0">
                <a:srgbClr val="DFEAFB"/>
              </a:gs>
              <a:gs pos="100000">
                <a:srgbClr val="6E9CE7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5"/>
          <p:cNvSpPr txBox="1"/>
          <p:nvPr>
            <p:ph type="title"/>
          </p:nvPr>
        </p:nvSpPr>
        <p:spPr>
          <a:xfrm>
            <a:off x="1105875" y="184650"/>
            <a:ext cx="723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Summary</a:t>
            </a:r>
            <a:endParaRPr b="1"/>
          </a:p>
        </p:txBody>
      </p:sp>
      <p:sp>
        <p:nvSpPr>
          <p:cNvPr id="213" name="Google Shape;213;p25"/>
          <p:cNvSpPr txBox="1"/>
          <p:nvPr/>
        </p:nvSpPr>
        <p:spPr>
          <a:xfrm>
            <a:off x="1468450" y="1295700"/>
            <a:ext cx="50415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Problem being addressed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Proposed method / core contribution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Domain of testing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Key results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Limitations of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Key takeaway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6"/>
          <p:cNvSpPr/>
          <p:nvPr/>
        </p:nvSpPr>
        <p:spPr>
          <a:xfrm rot="-5400000">
            <a:off x="4223875" y="-4108050"/>
            <a:ext cx="695400" cy="91581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6"/>
          <p:cNvSpPr/>
          <p:nvPr/>
        </p:nvSpPr>
        <p:spPr>
          <a:xfrm>
            <a:off x="171950" y="-62450"/>
            <a:ext cx="829800" cy="5268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6"/>
          <p:cNvSpPr/>
          <p:nvPr/>
        </p:nvSpPr>
        <p:spPr>
          <a:xfrm>
            <a:off x="239225" y="-62450"/>
            <a:ext cx="695400" cy="5268300"/>
          </a:xfrm>
          <a:prstGeom prst="rect">
            <a:avLst/>
          </a:prstGeom>
          <a:gradFill>
            <a:gsLst>
              <a:gs pos="0">
                <a:srgbClr val="DFEAFB"/>
              </a:gs>
              <a:gs pos="100000">
                <a:srgbClr val="6E9CE7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6"/>
          <p:cNvSpPr txBox="1"/>
          <p:nvPr>
            <p:ph type="title"/>
          </p:nvPr>
        </p:nvSpPr>
        <p:spPr>
          <a:xfrm>
            <a:off x="1105875" y="184650"/>
            <a:ext cx="723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Summary</a:t>
            </a:r>
            <a:endParaRPr b="1"/>
          </a:p>
        </p:txBody>
      </p:sp>
      <p:pic>
        <p:nvPicPr>
          <p:cNvPr id="222" name="Google Shape;22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4150" y="971100"/>
            <a:ext cx="5595184" cy="40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6"/>
          <p:cNvSpPr txBox="1"/>
          <p:nvPr/>
        </p:nvSpPr>
        <p:spPr>
          <a:xfrm>
            <a:off x="6607950" y="1013000"/>
            <a:ext cx="25362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500"/>
              <a:buChar char="●"/>
            </a:pPr>
            <a:r>
              <a:rPr b="1" lang="en-GB" sz="1500">
                <a:solidFill>
                  <a:srgbClr val="6AA84F"/>
                </a:solidFill>
              </a:rPr>
              <a:t>Problem being addressed</a:t>
            </a:r>
            <a:endParaRPr b="1" sz="1500">
              <a:solidFill>
                <a:srgbClr val="6AA84F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500"/>
              <a:buChar char="●"/>
            </a:pPr>
            <a:r>
              <a:rPr b="1" lang="en-GB" sz="1500">
                <a:solidFill>
                  <a:srgbClr val="6AA84F"/>
                </a:solidFill>
              </a:rPr>
              <a:t>Proposed method / core contribution</a:t>
            </a:r>
            <a:endParaRPr b="1" sz="1500">
              <a:solidFill>
                <a:srgbClr val="6AA84F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500"/>
              <a:buChar char="●"/>
            </a:pPr>
            <a:r>
              <a:rPr b="1" lang="en-GB" sz="1500">
                <a:solidFill>
                  <a:srgbClr val="6AA84F"/>
                </a:solidFill>
              </a:rPr>
              <a:t>Domain of testing</a:t>
            </a:r>
            <a:endParaRPr b="1" sz="1500">
              <a:solidFill>
                <a:srgbClr val="6AA84F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Char char="●"/>
            </a:pPr>
            <a:r>
              <a:rPr b="1" lang="en-GB" sz="1500">
                <a:solidFill>
                  <a:srgbClr val="FF0000"/>
                </a:solidFill>
              </a:rPr>
              <a:t>Key results</a:t>
            </a:r>
            <a:endParaRPr b="1" sz="1500">
              <a:solidFill>
                <a:srgbClr val="FF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Char char="●"/>
            </a:pPr>
            <a:r>
              <a:rPr b="1" lang="en-GB" sz="1500">
                <a:solidFill>
                  <a:srgbClr val="FF9900"/>
                </a:solidFill>
              </a:rPr>
              <a:t>Limitations of</a:t>
            </a:r>
            <a:endParaRPr b="1" sz="1500">
              <a:solidFill>
                <a:srgbClr val="FF99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500"/>
              <a:buChar char="●"/>
            </a:pPr>
            <a:r>
              <a:rPr b="1" lang="en-GB" sz="1500">
                <a:solidFill>
                  <a:srgbClr val="6AA84F"/>
                </a:solidFill>
              </a:rPr>
              <a:t>Key takeaway</a:t>
            </a:r>
            <a:endParaRPr b="1" sz="1500"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7"/>
          <p:cNvSpPr/>
          <p:nvPr/>
        </p:nvSpPr>
        <p:spPr>
          <a:xfrm rot="-5400000">
            <a:off x="4223875" y="-4108050"/>
            <a:ext cx="695400" cy="91581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7"/>
          <p:cNvSpPr/>
          <p:nvPr/>
        </p:nvSpPr>
        <p:spPr>
          <a:xfrm>
            <a:off x="171950" y="-62450"/>
            <a:ext cx="829800" cy="5268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7"/>
          <p:cNvSpPr/>
          <p:nvPr/>
        </p:nvSpPr>
        <p:spPr>
          <a:xfrm>
            <a:off x="239225" y="-62450"/>
            <a:ext cx="695400" cy="5268300"/>
          </a:xfrm>
          <a:prstGeom prst="rect">
            <a:avLst/>
          </a:prstGeom>
          <a:gradFill>
            <a:gsLst>
              <a:gs pos="0">
                <a:srgbClr val="DFEAFB"/>
              </a:gs>
              <a:gs pos="100000">
                <a:srgbClr val="6E9CE7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7"/>
          <p:cNvSpPr txBox="1"/>
          <p:nvPr>
            <p:ph type="title"/>
          </p:nvPr>
        </p:nvSpPr>
        <p:spPr>
          <a:xfrm>
            <a:off x="1105875" y="184650"/>
            <a:ext cx="723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Summary</a:t>
            </a:r>
            <a:endParaRPr b="1"/>
          </a:p>
        </p:txBody>
      </p:sp>
      <p:sp>
        <p:nvSpPr>
          <p:cNvPr id="232" name="Google Shape;232;p27"/>
          <p:cNvSpPr txBox="1"/>
          <p:nvPr/>
        </p:nvSpPr>
        <p:spPr>
          <a:xfrm>
            <a:off x="6607950" y="1013000"/>
            <a:ext cx="25362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Char char="●"/>
            </a:pPr>
            <a:r>
              <a:rPr b="1" lang="en-GB" sz="1500">
                <a:solidFill>
                  <a:srgbClr val="FF9900"/>
                </a:solidFill>
              </a:rPr>
              <a:t>Problem being addressed</a:t>
            </a:r>
            <a:endParaRPr b="1" sz="1500">
              <a:solidFill>
                <a:srgbClr val="FF99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500"/>
              <a:buChar char="●"/>
            </a:pPr>
            <a:r>
              <a:rPr b="1" lang="en-GB" sz="1500">
                <a:solidFill>
                  <a:srgbClr val="6AA84F"/>
                </a:solidFill>
              </a:rPr>
              <a:t>Proposed method / core contribution</a:t>
            </a:r>
            <a:endParaRPr b="1" sz="1500">
              <a:solidFill>
                <a:srgbClr val="6AA84F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Char char="●"/>
            </a:pPr>
            <a:r>
              <a:rPr b="1" lang="en-GB" sz="1500">
                <a:solidFill>
                  <a:srgbClr val="FF0000"/>
                </a:solidFill>
              </a:rPr>
              <a:t>Domain of testing</a:t>
            </a:r>
            <a:endParaRPr b="1" sz="1500">
              <a:solidFill>
                <a:srgbClr val="FF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Char char="●"/>
            </a:pPr>
            <a:r>
              <a:rPr b="1" lang="en-GB" sz="1500">
                <a:solidFill>
                  <a:srgbClr val="FF0000"/>
                </a:solidFill>
              </a:rPr>
              <a:t>Key results</a:t>
            </a:r>
            <a:endParaRPr b="1" sz="1500">
              <a:solidFill>
                <a:srgbClr val="FF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Char char="●"/>
            </a:pPr>
            <a:r>
              <a:rPr b="1" lang="en-GB" sz="1500">
                <a:solidFill>
                  <a:srgbClr val="FF9900"/>
                </a:solidFill>
              </a:rPr>
              <a:t>Limitations of</a:t>
            </a:r>
            <a:endParaRPr b="1" sz="1500">
              <a:solidFill>
                <a:srgbClr val="FF99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500"/>
              <a:buChar char="●"/>
            </a:pPr>
            <a:r>
              <a:rPr b="1" lang="en-GB" sz="1500">
                <a:solidFill>
                  <a:srgbClr val="6AA84F"/>
                </a:solidFill>
              </a:rPr>
              <a:t>Key takeaway</a:t>
            </a:r>
            <a:endParaRPr b="1" sz="1500">
              <a:solidFill>
                <a:srgbClr val="6AA84F"/>
              </a:solidFill>
            </a:endParaRPr>
          </a:p>
        </p:txBody>
      </p:sp>
      <p:pic>
        <p:nvPicPr>
          <p:cNvPr id="233" name="Google Shape;23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4150" y="971100"/>
            <a:ext cx="5301400" cy="22332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